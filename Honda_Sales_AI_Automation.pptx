
<file path=[Content_Types].xml><?xml version="1.0" encoding="utf-8"?>
<Types xmlns="http://schemas.openxmlformats.org/package/2006/content-types">
  <Default Extension="jfif" ContentType="image/jpeg"/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97" autoAdjust="0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57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1650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023360" y="822960"/>
            <a:ext cx="475488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i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LEFT"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914400"/>
            <a:ext cx="29260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RIGHT"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120640" y="457200"/>
            <a:ext cx="3657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fi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6.png"/><Relationship Id="rId4" Type="http://schemas.openxmlformats.org/officeDocument/2006/relationships/image" Target="../media/image10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f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eg"/><Relationship Id="rId3" Type="http://schemas.openxmlformats.org/officeDocument/2006/relationships/image" Target="../media/image7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6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6.png"/><Relationship Id="rId4" Type="http://schemas.openxmlformats.org/officeDocument/2006/relationships/image" Target="../media/image27.png"/><Relationship Id="rId9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044991" y="321392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Arial Black" panose="020B0A04020102020204" pitchFamily="34" charset="0"/>
              </a:rPr>
              <a:t>Honda Sales AI Automation</a:t>
            </a:r>
            <a:endParaRPr lang="en-US" sz="3600" dirty="0">
              <a:latin typeface="Arial Black" panose="020B0A04020102020204" pitchFamily="34" charset="0"/>
            </a:endParaRPr>
          </a:p>
        </p:txBody>
      </p:sp>
      <p:sp>
        <p:nvSpPr>
          <p:cNvPr id="4" name="Subtitle"/>
          <p:cNvSpPr txBox="1"/>
          <p:nvPr/>
        </p:nvSpPr>
        <p:spPr>
          <a:xfrm>
            <a:off x="4185285" y="187206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End-to-End Automated Reporting</a:t>
            </a:r>
            <a:endParaRPr lang="en-US" sz="1400" dirty="0"/>
          </a:p>
        </p:txBody>
      </p:sp>
      <p:sp>
        <p:nvSpPr>
          <p:cNvPr id="5" name="Author"/>
          <p:cNvSpPr txBox="1"/>
          <p:nvPr/>
        </p:nvSpPr>
        <p:spPr>
          <a:xfrm>
            <a:off x="6766560" y="4480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b="1" i="1" dirty="0">
                <a:solidFill>
                  <a:schemeClr val="tx1"/>
                </a:solidFill>
              </a:rPr>
              <a:t>Faisal Mohsin</a:t>
            </a:r>
            <a:endParaRPr lang="en-US" sz="11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7238"/>
            <a:ext cx="2949937" cy="484632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406" y="2834640"/>
            <a:ext cx="3411025" cy="21741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Business Problem</a:t>
            </a:r>
            <a:endParaRPr lang="en-US" sz="3200" dirty="0"/>
          </a:p>
        </p:txBody>
      </p:sp>
      <p:sp>
        <p:nvSpPr>
          <p:cNvPr id="3" name="Business problem text"/>
          <p:cNvSpPr txBox="1"/>
          <p:nvPr/>
        </p:nvSpPr>
        <p:spPr>
          <a:xfrm>
            <a:off x="822960" y="146304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i="1" dirty="0">
                <a:solidFill>
                  <a:schemeClr val="tx1"/>
                </a:solidFill>
              </a:rPr>
              <a:t>How can Honda sales data be automatically collected, centralized, and transformed into actionable insights so that management can monitor sales performance, profitability, customer trends, and regional performance more efficiently?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Objective</a:t>
            </a:r>
            <a:endParaRPr lang="en-US" sz="3200" dirty="0"/>
          </a:p>
        </p:txBody>
      </p:sp>
      <p:sp>
        <p:nvSpPr>
          <p:cNvPr id="3" name="Objective list"/>
          <p:cNvSpPr txBox="1"/>
          <p:nvPr/>
        </p:nvSpPr>
        <p:spPr>
          <a:xfrm>
            <a:off x="914400" y="1280160"/>
            <a:ext cx="75895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Automate the collection and processing of Honda sales data using n8n.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Store and organize sales data in a centralized MySQL database.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Reduce manual data handling and reporting efforts.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Analyze sales, revenue, costs, discounts, and profit-related data.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Identify important sales trends across models, dealers, cities, and states.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Generate business insights and suggestions based on the analyzed sales data.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Support data-driven decision-making through automated analysis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Technology Stack</a:t>
            </a:r>
            <a:endParaRPr lang="en-US" sz="3200" dirty="0"/>
          </a:p>
        </p:txBody>
      </p:sp>
      <p:pic>
        <p:nvPicPr>
          <p:cNvPr id="3" name="Network banner photo" descr="/home/claude/work/img/s4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8229600" cy="1499616"/>
          </a:xfrm>
          <a:prstGeom prst="rect">
            <a:avLst/>
          </a:prstGeom>
        </p:spPr>
      </p:pic>
      <p:sp>
        <p:nvSpPr>
          <p:cNvPr id="4" name="Stack 1 card"/>
          <p:cNvSpPr/>
          <p:nvPr/>
        </p:nvSpPr>
        <p:spPr>
          <a:xfrm>
            <a:off x="1280160" y="2578608"/>
            <a:ext cx="3200400" cy="694944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pic>
        <p:nvPicPr>
          <p:cNvPr id="5" name="Stack 1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040" y="2788920"/>
            <a:ext cx="274320" cy="274320"/>
          </a:xfrm>
          <a:prstGeom prst="rect">
            <a:avLst/>
          </a:prstGeom>
        </p:spPr>
      </p:pic>
      <p:sp>
        <p:nvSpPr>
          <p:cNvPr id="6" name="Stack 1 label"/>
          <p:cNvSpPr txBox="1"/>
          <p:nvPr/>
        </p:nvSpPr>
        <p:spPr>
          <a:xfrm>
            <a:off x="1920240" y="2578608"/>
            <a:ext cx="2468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n8n Cloud</a:t>
            </a:r>
            <a:endParaRPr lang="en-US" sz="1200" dirty="0"/>
          </a:p>
        </p:txBody>
      </p:sp>
      <p:sp>
        <p:nvSpPr>
          <p:cNvPr id="7" name="Stack 2 card"/>
          <p:cNvSpPr/>
          <p:nvPr/>
        </p:nvSpPr>
        <p:spPr>
          <a:xfrm>
            <a:off x="4663440" y="2578608"/>
            <a:ext cx="3200400" cy="694944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pic>
        <p:nvPicPr>
          <p:cNvPr id="8" name="Stack 2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2788920"/>
            <a:ext cx="274320" cy="274320"/>
          </a:xfrm>
          <a:prstGeom prst="rect">
            <a:avLst/>
          </a:prstGeom>
        </p:spPr>
      </p:pic>
      <p:sp>
        <p:nvSpPr>
          <p:cNvPr id="9" name="Stack 2 label"/>
          <p:cNvSpPr txBox="1"/>
          <p:nvPr/>
        </p:nvSpPr>
        <p:spPr>
          <a:xfrm>
            <a:off x="5303520" y="2578608"/>
            <a:ext cx="2468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Gmail &amp; Google Drive</a:t>
            </a:r>
            <a:endParaRPr lang="en-US" sz="1200" dirty="0"/>
          </a:p>
        </p:txBody>
      </p:sp>
      <p:sp>
        <p:nvSpPr>
          <p:cNvPr id="10" name="Stack 3 card"/>
          <p:cNvSpPr/>
          <p:nvPr/>
        </p:nvSpPr>
        <p:spPr>
          <a:xfrm>
            <a:off x="1280160" y="3383280"/>
            <a:ext cx="3200400" cy="694944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pic>
        <p:nvPicPr>
          <p:cNvPr id="11" name="Stack 3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3040" y="3593592"/>
            <a:ext cx="274320" cy="274320"/>
          </a:xfrm>
          <a:prstGeom prst="rect">
            <a:avLst/>
          </a:prstGeom>
        </p:spPr>
      </p:pic>
      <p:sp>
        <p:nvSpPr>
          <p:cNvPr id="12" name="Stack 3 label"/>
          <p:cNvSpPr txBox="1"/>
          <p:nvPr/>
        </p:nvSpPr>
        <p:spPr>
          <a:xfrm>
            <a:off x="1920240" y="3383280"/>
            <a:ext cx="2468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Aiven MySQL</a:t>
            </a:r>
            <a:endParaRPr lang="en-US" sz="1200" dirty="0"/>
          </a:p>
        </p:txBody>
      </p:sp>
      <p:sp>
        <p:nvSpPr>
          <p:cNvPr id="13" name="Stack 4 card"/>
          <p:cNvSpPr/>
          <p:nvPr/>
        </p:nvSpPr>
        <p:spPr>
          <a:xfrm>
            <a:off x="4663440" y="3383280"/>
            <a:ext cx="3200400" cy="694944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pic>
        <p:nvPicPr>
          <p:cNvPr id="14" name="Stack 4 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3593592"/>
            <a:ext cx="274320" cy="274320"/>
          </a:xfrm>
          <a:prstGeom prst="rect">
            <a:avLst/>
          </a:prstGeom>
        </p:spPr>
      </p:pic>
      <p:sp>
        <p:nvSpPr>
          <p:cNvPr id="15" name="Stack 4 label"/>
          <p:cNvSpPr txBox="1"/>
          <p:nvPr/>
        </p:nvSpPr>
        <p:spPr>
          <a:xfrm>
            <a:off x="5303520" y="3383280"/>
            <a:ext cx="2468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SQL and JavaScript</a:t>
            </a:r>
            <a:endParaRPr lang="en-US" sz="1200" dirty="0"/>
          </a:p>
        </p:txBody>
      </p:sp>
      <p:sp>
        <p:nvSpPr>
          <p:cNvPr id="16" name="Stack 5 card"/>
          <p:cNvSpPr/>
          <p:nvPr/>
        </p:nvSpPr>
        <p:spPr>
          <a:xfrm>
            <a:off x="1280160" y="4187952"/>
            <a:ext cx="3200400" cy="694944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pic>
        <p:nvPicPr>
          <p:cNvPr id="17" name="Stack 5 icon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63040" y="4398264"/>
            <a:ext cx="274320" cy="274320"/>
          </a:xfrm>
          <a:prstGeom prst="rect">
            <a:avLst/>
          </a:prstGeom>
        </p:spPr>
      </p:pic>
      <p:sp>
        <p:nvSpPr>
          <p:cNvPr id="18" name="Stack 5 label"/>
          <p:cNvSpPr txBox="1"/>
          <p:nvPr/>
        </p:nvSpPr>
        <p:spPr>
          <a:xfrm>
            <a:off x="1920240" y="4187952"/>
            <a:ext cx="2468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Google Gemini AI</a:t>
            </a:r>
            <a:endParaRPr lang="en-US" sz="1200" dirty="0"/>
          </a:p>
        </p:txBody>
      </p:sp>
      <p:sp>
        <p:nvSpPr>
          <p:cNvPr id="19" name="Stack 6 card"/>
          <p:cNvSpPr/>
          <p:nvPr/>
        </p:nvSpPr>
        <p:spPr>
          <a:xfrm>
            <a:off x="4663440" y="4187952"/>
            <a:ext cx="3200400" cy="694944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pic>
        <p:nvPicPr>
          <p:cNvPr id="20" name="Stack 6 icon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6320" y="4398264"/>
            <a:ext cx="274320" cy="274320"/>
          </a:xfrm>
          <a:prstGeom prst="rect">
            <a:avLst/>
          </a:prstGeom>
        </p:spPr>
      </p:pic>
      <p:sp>
        <p:nvSpPr>
          <p:cNvPr id="21" name="Stack 6 label"/>
          <p:cNvSpPr txBox="1"/>
          <p:nvPr/>
        </p:nvSpPr>
        <p:spPr>
          <a:xfrm>
            <a:off x="5303520" y="4187952"/>
            <a:ext cx="2468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HTML Reporting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365760" y="-38102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Architecture</a:t>
            </a:r>
            <a:endParaRPr lang="en-US" sz="3200" dirty="0"/>
          </a:p>
        </p:txBody>
      </p:sp>
      <p:sp>
        <p:nvSpPr>
          <p:cNvPr id="4" name="Arch 1 card"/>
          <p:cNvSpPr/>
          <p:nvPr/>
        </p:nvSpPr>
        <p:spPr>
          <a:xfrm>
            <a:off x="365760" y="2971800"/>
            <a:ext cx="269748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pic>
        <p:nvPicPr>
          <p:cNvPr id="5" name="Arch 1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68980"/>
            <a:ext cx="274320" cy="274320"/>
          </a:xfrm>
          <a:prstGeom prst="rect">
            <a:avLst/>
          </a:prstGeom>
        </p:spPr>
      </p:pic>
      <p:sp>
        <p:nvSpPr>
          <p:cNvPr id="6" name="Arch 1 label"/>
          <p:cNvSpPr txBox="1"/>
          <p:nvPr/>
        </p:nvSpPr>
        <p:spPr>
          <a:xfrm>
            <a:off x="1005840" y="297180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Trigger: Gmail arrives with sales data</a:t>
            </a:r>
            <a:endParaRPr lang="en-US" sz="1200" dirty="0"/>
          </a:p>
        </p:txBody>
      </p:sp>
      <p:sp>
        <p:nvSpPr>
          <p:cNvPr id="7" name="Arch 2 card"/>
          <p:cNvSpPr/>
          <p:nvPr/>
        </p:nvSpPr>
        <p:spPr>
          <a:xfrm>
            <a:off x="3223260" y="2971800"/>
            <a:ext cx="269748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pic>
        <p:nvPicPr>
          <p:cNvPr id="8" name="Arch 2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6140" y="3268980"/>
            <a:ext cx="274320" cy="274320"/>
          </a:xfrm>
          <a:prstGeom prst="rect">
            <a:avLst/>
          </a:prstGeom>
        </p:spPr>
      </p:pic>
      <p:sp>
        <p:nvSpPr>
          <p:cNvPr id="9" name="Arch 2 label"/>
          <p:cNvSpPr txBox="1"/>
          <p:nvPr/>
        </p:nvSpPr>
        <p:spPr>
          <a:xfrm>
            <a:off x="3863340" y="297180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Storage: Google Drive and XLSX Extraction</a:t>
            </a:r>
            <a:endParaRPr lang="en-US" sz="1200" dirty="0"/>
          </a:p>
        </p:txBody>
      </p:sp>
      <p:sp>
        <p:nvSpPr>
          <p:cNvPr id="10" name="Arch 3 card"/>
          <p:cNvSpPr/>
          <p:nvPr/>
        </p:nvSpPr>
        <p:spPr>
          <a:xfrm>
            <a:off x="6080760" y="2971800"/>
            <a:ext cx="269748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pic>
        <p:nvPicPr>
          <p:cNvPr id="11" name="Arch 3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3268980"/>
            <a:ext cx="274320" cy="274320"/>
          </a:xfrm>
          <a:prstGeom prst="rect">
            <a:avLst/>
          </a:prstGeom>
        </p:spPr>
      </p:pic>
      <p:sp>
        <p:nvSpPr>
          <p:cNvPr id="12" name="Arch 3 label"/>
          <p:cNvSpPr txBox="1"/>
          <p:nvPr/>
        </p:nvSpPr>
        <p:spPr>
          <a:xfrm>
            <a:off x="6720840" y="297180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Database: Aiven MySQL Upsert (honda_sales)</a:t>
            </a:r>
            <a:endParaRPr lang="en-US" sz="1200" dirty="0"/>
          </a:p>
        </p:txBody>
      </p:sp>
      <p:sp>
        <p:nvSpPr>
          <p:cNvPr id="13" name="Arch 4 card"/>
          <p:cNvSpPr/>
          <p:nvPr/>
        </p:nvSpPr>
        <p:spPr>
          <a:xfrm>
            <a:off x="365760" y="3977640"/>
            <a:ext cx="269748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pic>
        <p:nvPicPr>
          <p:cNvPr id="14" name="Arch 4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274820"/>
            <a:ext cx="274320" cy="274320"/>
          </a:xfrm>
          <a:prstGeom prst="rect">
            <a:avLst/>
          </a:prstGeom>
        </p:spPr>
      </p:pic>
      <p:sp>
        <p:nvSpPr>
          <p:cNvPr id="15" name="Arch 4 label"/>
          <p:cNvSpPr txBox="1"/>
          <p:nvPr/>
        </p:nvSpPr>
        <p:spPr>
          <a:xfrm>
            <a:off x="1005840" y="397764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Analytics: SQL Aggregation (State &amp; Overall)</a:t>
            </a:r>
            <a:endParaRPr lang="en-US" sz="1200" dirty="0"/>
          </a:p>
        </p:txBody>
      </p:sp>
      <p:sp>
        <p:nvSpPr>
          <p:cNvPr id="16" name="Arch 5 card"/>
          <p:cNvSpPr/>
          <p:nvPr/>
        </p:nvSpPr>
        <p:spPr>
          <a:xfrm>
            <a:off x="3223260" y="3977640"/>
            <a:ext cx="269748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pic>
        <p:nvPicPr>
          <p:cNvPr id="17" name="Arch 5 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6140" y="4274820"/>
            <a:ext cx="274320" cy="274320"/>
          </a:xfrm>
          <a:prstGeom prst="rect">
            <a:avLst/>
          </a:prstGeom>
        </p:spPr>
      </p:pic>
      <p:sp>
        <p:nvSpPr>
          <p:cNvPr id="18" name="Arch 5 label"/>
          <p:cNvSpPr txBox="1"/>
          <p:nvPr/>
        </p:nvSpPr>
        <p:spPr>
          <a:xfrm>
            <a:off x="3863340" y="397764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AI: Gemini analysis of supplied metrics</a:t>
            </a:r>
            <a:endParaRPr lang="en-US" sz="1200" dirty="0"/>
          </a:p>
        </p:txBody>
      </p:sp>
      <p:sp>
        <p:nvSpPr>
          <p:cNvPr id="19" name="Arch 6 card"/>
          <p:cNvSpPr/>
          <p:nvPr/>
        </p:nvSpPr>
        <p:spPr>
          <a:xfrm>
            <a:off x="6080760" y="3977640"/>
            <a:ext cx="269748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pic>
        <p:nvPicPr>
          <p:cNvPr id="20" name="Arch 6 icon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4274820"/>
            <a:ext cx="274320" cy="274320"/>
          </a:xfrm>
          <a:prstGeom prst="rect">
            <a:avLst/>
          </a:prstGeom>
        </p:spPr>
      </p:pic>
      <p:sp>
        <p:nvSpPr>
          <p:cNvPr id="21" name="Arch 6 label"/>
          <p:cNvSpPr txBox="1"/>
          <p:nvPr/>
        </p:nvSpPr>
        <p:spPr>
          <a:xfrm>
            <a:off x="6720840" y="397764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Delivery: JavaScript HTML &amp; Gmail Send</a:t>
            </a:r>
            <a:endParaRPr lang="en-US" sz="120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" y="540774"/>
            <a:ext cx="8321040" cy="229386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 pill"/>
          <p:cNvSpPr/>
          <p:nvPr/>
        </p:nvSpPr>
        <p:spPr>
          <a:xfrm>
            <a:off x="457200" y="91440"/>
            <a:ext cx="1097280" cy="237744"/>
          </a:xfrm>
          <a:prstGeom prst="roundRect">
            <a:avLst>
              <a:gd name="adj" fmla="val 53846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" name="Tag text"/>
          <p:cNvSpPr txBox="1"/>
          <p:nvPr/>
        </p:nvSpPr>
        <p:spPr>
          <a:xfrm>
            <a:off x="457200" y="914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Architecture</a:t>
            </a:r>
            <a:endParaRPr lang="en-US" sz="10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Data Model</a:t>
            </a:r>
            <a:endParaRPr lang="en-US" sz="3200" dirty="0"/>
          </a:p>
        </p:txBody>
      </p:sp>
      <p:sp>
        <p:nvSpPr>
          <p:cNvPr id="5" name="Subtitle"/>
          <p:cNvSpPr txBox="1"/>
          <p:nvPr/>
        </p:nvSpPr>
        <p:spPr>
          <a:xfrm>
            <a:off x="457200" y="1005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Aiven MySQL honda_sales table design</a:t>
            </a:r>
            <a:endParaRPr lang="en-US" sz="1200" dirty="0"/>
          </a:p>
        </p:txBody>
      </p:sp>
      <p:sp>
        <p:nvSpPr>
          <p:cNvPr id="6" name="Connector line"/>
          <p:cNvSpPr/>
          <p:nvPr/>
        </p:nvSpPr>
        <p:spPr>
          <a:xfrm>
            <a:off x="914400" y="2331720"/>
            <a:ext cx="7040880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</a:ln>
        </p:spPr>
      </p:sp>
      <p:sp>
        <p:nvSpPr>
          <p:cNvPr id="7" name="Circle 1"/>
          <p:cNvSpPr/>
          <p:nvPr/>
        </p:nvSpPr>
        <p:spPr>
          <a:xfrm>
            <a:off x="548640" y="1965960"/>
            <a:ext cx="731520" cy="7315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8" name="Model icon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167128"/>
            <a:ext cx="329184" cy="329184"/>
          </a:xfrm>
          <a:prstGeom prst="rect">
            <a:avLst/>
          </a:prstGeom>
        </p:spPr>
      </p:pic>
      <p:sp>
        <p:nvSpPr>
          <p:cNvPr id="9" name="Model label 1"/>
          <p:cNvSpPr txBox="1"/>
          <p:nvPr/>
        </p:nvSpPr>
        <p:spPr>
          <a:xfrm>
            <a:off x="548640" y="2971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Order_ID</a:t>
            </a:r>
            <a:endParaRPr lang="en-US" sz="1300" dirty="0"/>
          </a:p>
        </p:txBody>
      </p:sp>
      <p:sp>
        <p:nvSpPr>
          <p:cNvPr id="10" name="Model desc 1"/>
          <p:cNvSpPr txBox="1"/>
          <p:nvPr/>
        </p:nvSpPr>
        <p:spPr>
          <a:xfrm>
            <a:off x="548640" y="3273552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Primary Key (VARCHAR 50) used as the match column for upserts.</a:t>
            </a:r>
            <a:endParaRPr lang="en-US" sz="1100" dirty="0"/>
          </a:p>
        </p:txBody>
      </p:sp>
      <p:sp>
        <p:nvSpPr>
          <p:cNvPr id="11" name="Circle 2"/>
          <p:cNvSpPr/>
          <p:nvPr/>
        </p:nvSpPr>
        <p:spPr>
          <a:xfrm>
            <a:off x="2651760" y="1965960"/>
            <a:ext cx="731520" cy="7315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2" name="Model icon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2928" y="2167128"/>
            <a:ext cx="329184" cy="329184"/>
          </a:xfrm>
          <a:prstGeom prst="rect">
            <a:avLst/>
          </a:prstGeom>
        </p:spPr>
      </p:pic>
      <p:sp>
        <p:nvSpPr>
          <p:cNvPr id="13" name="Model label 2"/>
          <p:cNvSpPr txBox="1"/>
          <p:nvPr/>
        </p:nvSpPr>
        <p:spPr>
          <a:xfrm>
            <a:off x="2651760" y="2971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Metrics</a:t>
            </a:r>
            <a:endParaRPr lang="en-US" sz="1300" dirty="0"/>
          </a:p>
        </p:txBody>
      </p:sp>
      <p:sp>
        <p:nvSpPr>
          <p:cNvPr id="14" name="Model desc 2"/>
          <p:cNvSpPr txBox="1"/>
          <p:nvPr/>
        </p:nvSpPr>
        <p:spPr>
          <a:xfrm>
            <a:off x="2651760" y="3273552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Includes On_Road_Price, Discount, Gross_Profit, and Net_Sales.</a:t>
            </a:r>
            <a:endParaRPr lang="en-US" sz="1100" dirty="0"/>
          </a:p>
        </p:txBody>
      </p:sp>
      <p:sp>
        <p:nvSpPr>
          <p:cNvPr id="15" name="Circle 3"/>
          <p:cNvSpPr/>
          <p:nvPr/>
        </p:nvSpPr>
        <p:spPr>
          <a:xfrm>
            <a:off x="4754880" y="1965960"/>
            <a:ext cx="731520" cy="7315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6" name="Model icon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2167128"/>
            <a:ext cx="329184" cy="329184"/>
          </a:xfrm>
          <a:prstGeom prst="rect">
            <a:avLst/>
          </a:prstGeom>
        </p:spPr>
      </p:pic>
      <p:sp>
        <p:nvSpPr>
          <p:cNvPr id="17" name="Model label 3"/>
          <p:cNvSpPr txBox="1"/>
          <p:nvPr/>
        </p:nvSpPr>
        <p:spPr>
          <a:xfrm>
            <a:off x="4754880" y="2971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Dimensions</a:t>
            </a:r>
            <a:endParaRPr lang="en-US" sz="1300" dirty="0"/>
          </a:p>
        </p:txBody>
      </p:sp>
      <p:sp>
        <p:nvSpPr>
          <p:cNvPr id="18" name="Model desc 3"/>
          <p:cNvSpPr txBox="1"/>
          <p:nvPr/>
        </p:nvSpPr>
        <p:spPr>
          <a:xfrm>
            <a:off x="4754880" y="3273552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Covers State, City, Dealer_Name, Bike_Model, and Segment.</a:t>
            </a:r>
            <a:endParaRPr lang="en-US" sz="1100" dirty="0"/>
          </a:p>
        </p:txBody>
      </p:sp>
      <p:sp>
        <p:nvSpPr>
          <p:cNvPr id="19" name="Circle 4"/>
          <p:cNvSpPr/>
          <p:nvPr/>
        </p:nvSpPr>
        <p:spPr>
          <a:xfrm>
            <a:off x="6858000" y="1965960"/>
            <a:ext cx="731520" cy="7315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0" name="Model icon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9168" y="2167128"/>
            <a:ext cx="329184" cy="329184"/>
          </a:xfrm>
          <a:prstGeom prst="rect">
            <a:avLst/>
          </a:prstGeom>
        </p:spPr>
      </p:pic>
      <p:sp>
        <p:nvSpPr>
          <p:cNvPr id="21" name="Model label 4"/>
          <p:cNvSpPr txBox="1"/>
          <p:nvPr/>
        </p:nvSpPr>
        <p:spPr>
          <a:xfrm>
            <a:off x="6858000" y="2971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Customer Data</a:t>
            </a:r>
            <a:endParaRPr lang="en-US" sz="1300" dirty="0"/>
          </a:p>
        </p:txBody>
      </p:sp>
      <p:sp>
        <p:nvSpPr>
          <p:cNvPr id="22" name="Model desc 4"/>
          <p:cNvSpPr txBox="1"/>
          <p:nvPr/>
        </p:nvSpPr>
        <p:spPr>
          <a:xfrm>
            <a:off x="6858000" y="3273552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Includes Age, Gender, and Customer_Rating metrics.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Data Pipeline</a:t>
            </a:r>
            <a:endParaRPr lang="en-US" sz="3200" dirty="0"/>
          </a:p>
        </p:txBody>
      </p:sp>
      <p:sp>
        <p:nvSpPr>
          <p:cNvPr id="3" name="Stat card 1"/>
          <p:cNvSpPr/>
          <p:nvPr/>
        </p:nvSpPr>
        <p:spPr>
          <a:xfrm>
            <a:off x="457200" y="1188720"/>
            <a:ext cx="2240280" cy="342900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pic>
        <p:nvPicPr>
          <p:cNvPr id="4" name="Stat photo 1" descr="/home/claude/work/img/s7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2057400" cy="1325880"/>
          </a:xfrm>
          <a:prstGeom prst="rect">
            <a:avLst/>
          </a:prstGeom>
        </p:spPr>
      </p:pic>
      <p:sp>
        <p:nvSpPr>
          <p:cNvPr id="5" name="Stat number 1"/>
          <p:cNvSpPr txBox="1"/>
          <p:nvPr/>
        </p:nvSpPr>
        <p:spPr>
          <a:xfrm>
            <a:off x="640080" y="27432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chemeClr val="tx1"/>
                </a:solidFill>
              </a:rPr>
              <a:t>1,500</a:t>
            </a:r>
            <a:endParaRPr lang="en-US" sz="4000" dirty="0"/>
          </a:p>
        </p:txBody>
      </p:sp>
      <p:sp>
        <p:nvSpPr>
          <p:cNvPr id="6" name="Stat label 1"/>
          <p:cNvSpPr txBox="1"/>
          <p:nvPr/>
        </p:nvSpPr>
        <p:spPr>
          <a:xfrm>
            <a:off x="640080" y="35204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Rows extracted per XLSX file</a:t>
            </a:r>
            <a:endParaRPr lang="en-US" sz="1300" dirty="0"/>
          </a:p>
        </p:txBody>
      </p:sp>
      <p:sp>
        <p:nvSpPr>
          <p:cNvPr id="7" name="Stat card 2"/>
          <p:cNvSpPr/>
          <p:nvPr/>
        </p:nvSpPr>
        <p:spPr>
          <a:xfrm>
            <a:off x="2880360" y="1188720"/>
            <a:ext cx="2240280" cy="342900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pic>
        <p:nvPicPr>
          <p:cNvPr id="8" name="Stat photo 2" descr="/home/claude/work/img/s7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3934" y="1307592"/>
            <a:ext cx="2057400" cy="1325880"/>
          </a:xfrm>
          <a:prstGeom prst="rect">
            <a:avLst/>
          </a:prstGeom>
        </p:spPr>
      </p:pic>
      <p:sp>
        <p:nvSpPr>
          <p:cNvPr id="9" name="Stat number 2"/>
          <p:cNvSpPr txBox="1"/>
          <p:nvPr/>
        </p:nvSpPr>
        <p:spPr>
          <a:xfrm>
            <a:off x="3063240" y="27432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chemeClr val="tx1"/>
                </a:solidFill>
              </a:rPr>
              <a:t>28</a:t>
            </a:r>
            <a:endParaRPr lang="en-US" sz="4000" dirty="0"/>
          </a:p>
        </p:txBody>
      </p:sp>
      <p:sp>
        <p:nvSpPr>
          <p:cNvPr id="10" name="Stat label 2"/>
          <p:cNvSpPr txBox="1"/>
          <p:nvPr/>
        </p:nvSpPr>
        <p:spPr>
          <a:xfrm>
            <a:off x="3063240" y="35204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Database columns processed</a:t>
            </a:r>
            <a:endParaRPr lang="en-US" sz="1300" dirty="0"/>
          </a:p>
        </p:txBody>
      </p:sp>
      <p:sp>
        <p:nvSpPr>
          <p:cNvPr id="11" name="Rules panel"/>
          <p:cNvSpPr/>
          <p:nvPr/>
        </p:nvSpPr>
        <p:spPr>
          <a:xfrm>
            <a:off x="5394960" y="1188720"/>
            <a:ext cx="3291840" cy="342900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2" name="Rules heading"/>
          <p:cNvSpPr txBox="1"/>
          <p:nvPr/>
        </p:nvSpPr>
        <p:spPr>
          <a:xfrm>
            <a:off x="5623560" y="13258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Pipeline Rules</a:t>
            </a:r>
            <a:endParaRPr lang="en-US" sz="1400" dirty="0"/>
          </a:p>
        </p:txBody>
      </p:sp>
      <p:sp>
        <p:nvSpPr>
          <p:cNvPr id="13" name="Rule number 1"/>
          <p:cNvSpPr txBox="1"/>
          <p:nvPr/>
        </p:nvSpPr>
        <p:spPr>
          <a:xfrm>
            <a:off x="5623560" y="1783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tx2"/>
                </a:solidFill>
              </a:rPr>
              <a:t>01</a:t>
            </a:r>
            <a:endParaRPr lang="en-US" sz="2200" dirty="0"/>
          </a:p>
        </p:txBody>
      </p:sp>
      <p:sp>
        <p:nvSpPr>
          <p:cNvPr id="14" name="Rule text 1"/>
          <p:cNvSpPr txBox="1"/>
          <p:nvPr/>
        </p:nvSpPr>
        <p:spPr>
          <a:xfrm>
            <a:off x="5623560" y="217627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Automated XLSX to structured row conversion</a:t>
            </a:r>
            <a:endParaRPr lang="en-US" sz="1200" dirty="0"/>
          </a:p>
        </p:txBody>
      </p:sp>
      <p:sp>
        <p:nvSpPr>
          <p:cNvPr id="15" name="Rule number 2"/>
          <p:cNvSpPr txBox="1"/>
          <p:nvPr/>
        </p:nvSpPr>
        <p:spPr>
          <a:xfrm>
            <a:off x="5623560" y="2697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tx2"/>
                </a:solidFill>
              </a:rPr>
              <a:t>02</a:t>
            </a:r>
            <a:endParaRPr lang="en-US" sz="2200" dirty="0"/>
          </a:p>
        </p:txBody>
      </p:sp>
      <p:sp>
        <p:nvSpPr>
          <p:cNvPr id="16" name="Rule text 2"/>
          <p:cNvSpPr txBox="1"/>
          <p:nvPr/>
        </p:nvSpPr>
        <p:spPr>
          <a:xfrm>
            <a:off x="5623560" y="309067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MySQL Insert or Update based on Order_ID</a:t>
            </a:r>
            <a:endParaRPr lang="en-US" sz="1200" dirty="0"/>
          </a:p>
        </p:txBody>
      </p:sp>
      <p:sp>
        <p:nvSpPr>
          <p:cNvPr id="17" name="Rule number 3"/>
          <p:cNvSpPr txBox="1"/>
          <p:nvPr/>
        </p:nvSpPr>
        <p:spPr>
          <a:xfrm>
            <a:off x="5623560" y="3611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tx2"/>
                </a:solidFill>
              </a:rPr>
              <a:t>03</a:t>
            </a:r>
            <a:endParaRPr lang="en-US" sz="2200" dirty="0"/>
          </a:p>
        </p:txBody>
      </p:sp>
      <p:sp>
        <p:nvSpPr>
          <p:cNvPr id="18" name="Rule text 3"/>
          <p:cNvSpPr txBox="1"/>
          <p:nvPr/>
        </p:nvSpPr>
        <p:spPr>
          <a:xfrm>
            <a:off x="5623560" y="400507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Production path excludes DROP TABLE for data safety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"/>
          <p:cNvSpPr txBox="1"/>
          <p:nvPr/>
        </p:nvSpPr>
        <p:spPr>
          <a:xfrm>
            <a:off x="457200" y="1812577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" name="Block heading 1"/>
          <p:cNvSpPr txBox="1"/>
          <p:nvPr/>
        </p:nvSpPr>
        <p:spPr>
          <a:xfrm>
            <a:off x="261537" y="199440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 smtClean="0">
                <a:solidFill>
                  <a:schemeClr val="tx1"/>
                </a:solidFill>
              </a:rPr>
              <a:t>State-wise Analysis</a:t>
            </a:r>
            <a:endParaRPr lang="en-US" sz="1500" dirty="0"/>
          </a:p>
        </p:txBody>
      </p:sp>
      <p:sp>
        <p:nvSpPr>
          <p:cNvPr id="6" name="Block text 1"/>
          <p:cNvSpPr txBox="1"/>
          <p:nvPr/>
        </p:nvSpPr>
        <p:spPr>
          <a:xfrm>
            <a:off x="261537" y="2361216"/>
            <a:ext cx="3730360" cy="811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Total orders by state, sum of </a:t>
            </a:r>
            <a:r>
              <a:rPr lang="en-US" sz="1300" dirty="0" err="1">
                <a:solidFill>
                  <a:schemeClr val="tx2"/>
                </a:solidFill>
              </a:rPr>
              <a:t>On_Road_Price</a:t>
            </a:r>
            <a:r>
              <a:rPr lang="en-US" sz="1300" dirty="0" smtClean="0">
                <a:solidFill>
                  <a:schemeClr val="tx2"/>
                </a:solidFill>
              </a:rPr>
              <a:t>,</a:t>
            </a:r>
          </a:p>
          <a:p>
            <a:pPr marL="0" indent="0">
              <a:buNone/>
            </a:pPr>
            <a:r>
              <a:rPr lang="en-US" sz="1300" dirty="0" smtClean="0">
                <a:solidFill>
                  <a:schemeClr val="tx2"/>
                </a:solidFill>
              </a:rPr>
              <a:t> </a:t>
            </a:r>
            <a:r>
              <a:rPr lang="en-US" sz="1300" dirty="0">
                <a:solidFill>
                  <a:schemeClr val="tx2"/>
                </a:solidFill>
              </a:rPr>
              <a:t>ordered by sales volume.</a:t>
            </a:r>
            <a:endParaRPr lang="en-US" sz="1300" dirty="0"/>
          </a:p>
        </p:txBody>
      </p:sp>
      <p:sp>
        <p:nvSpPr>
          <p:cNvPr id="7" name="Block heading 2"/>
          <p:cNvSpPr txBox="1"/>
          <p:nvPr/>
        </p:nvSpPr>
        <p:spPr>
          <a:xfrm>
            <a:off x="1795370" y="3382631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Overall Summary</a:t>
            </a:r>
            <a:endParaRPr lang="en-US" sz="1500" dirty="0"/>
          </a:p>
        </p:txBody>
      </p:sp>
      <p:sp>
        <p:nvSpPr>
          <p:cNvPr id="8" name="Block text 2"/>
          <p:cNvSpPr txBox="1"/>
          <p:nvPr/>
        </p:nvSpPr>
        <p:spPr>
          <a:xfrm>
            <a:off x="1920240" y="3743418"/>
            <a:ext cx="3840480" cy="777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Unique order count, total aggregate sales, and average customer age calculation.</a:t>
            </a:r>
            <a:endParaRPr lang="en-US" sz="13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3280" y="176489"/>
            <a:ext cx="5676162" cy="3069631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57317" y="176489"/>
            <a:ext cx="2529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SQL</a:t>
            </a:r>
            <a:r>
              <a:rPr lang="en-US" b="1" dirty="0"/>
              <a:t> </a:t>
            </a:r>
            <a:r>
              <a:rPr lang="en-US" sz="3200" b="1" dirty="0"/>
              <a:t>Analytics</a:t>
            </a:r>
            <a:endParaRPr lang="en-US" sz="3200" dirty="0"/>
          </a:p>
        </p:txBody>
      </p:sp>
      <p:sp>
        <p:nvSpPr>
          <p:cNvPr id="13" name="Rectangle 12"/>
          <p:cNvSpPr/>
          <p:nvPr/>
        </p:nvSpPr>
        <p:spPr>
          <a:xfrm>
            <a:off x="261537" y="723790"/>
            <a:ext cx="323481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Automated metric extraction from </a:t>
            </a:r>
            <a:r>
              <a:rPr lang="en-US" sz="1200" dirty="0" err="1">
                <a:solidFill>
                  <a:schemeClr val="tx2"/>
                </a:solidFill>
              </a:rPr>
              <a:t>Aiven</a:t>
            </a:r>
            <a:r>
              <a:rPr lang="en-US" sz="1200" dirty="0">
                <a:solidFill>
                  <a:schemeClr val="tx2"/>
                </a:solidFill>
              </a:rPr>
              <a:t> MySQL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I analytics photo" descr="/home/claude/work/img/s9_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548640"/>
            <a:ext cx="4480560" cy="406908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120640" y="4572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AI Layer</a:t>
            </a:r>
            <a:endParaRPr lang="en-US" sz="3200" dirty="0"/>
          </a:p>
        </p:txBody>
      </p:sp>
      <p:sp>
        <p:nvSpPr>
          <p:cNvPr id="4" name="Subtitle"/>
          <p:cNvSpPr txBox="1"/>
          <p:nvPr/>
        </p:nvSpPr>
        <p:spPr>
          <a:xfrm>
            <a:off x="512064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Google Gemini Business-Insight Generation</a:t>
            </a:r>
            <a:endParaRPr lang="en-US" sz="1100" dirty="0"/>
          </a:p>
        </p:txBody>
      </p:sp>
      <p:sp>
        <p:nvSpPr>
          <p:cNvPr id="5" name="Divider 1"/>
          <p:cNvSpPr/>
          <p:nvPr/>
        </p:nvSpPr>
        <p:spPr>
          <a:xfrm>
            <a:off x="5120640" y="1645920"/>
            <a:ext cx="3566160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</p:sp>
      <p:sp>
        <p:nvSpPr>
          <p:cNvPr id="6" name="Item number 1"/>
          <p:cNvSpPr txBox="1"/>
          <p:nvPr/>
        </p:nvSpPr>
        <p:spPr>
          <a:xfrm>
            <a:off x="5120640" y="1783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Item heading 1"/>
          <p:cNvSpPr txBox="1"/>
          <p:nvPr/>
        </p:nvSpPr>
        <p:spPr>
          <a:xfrm>
            <a:off x="5577840" y="17556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Evidence-Based</a:t>
            </a:r>
            <a:endParaRPr lang="en-US" sz="1400" dirty="0"/>
          </a:p>
        </p:txBody>
      </p:sp>
      <p:sp>
        <p:nvSpPr>
          <p:cNvPr id="8" name="Item text 1"/>
          <p:cNvSpPr txBox="1"/>
          <p:nvPr/>
        </p:nvSpPr>
        <p:spPr>
          <a:xfrm>
            <a:off x="5577840" y="208483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AI interprets supplied SQL metrics without inventing figures.</a:t>
            </a:r>
            <a:endParaRPr lang="en-US" sz="1200" dirty="0"/>
          </a:p>
        </p:txBody>
      </p:sp>
      <p:sp>
        <p:nvSpPr>
          <p:cNvPr id="9" name="Divider 2"/>
          <p:cNvSpPr/>
          <p:nvPr/>
        </p:nvSpPr>
        <p:spPr>
          <a:xfrm>
            <a:off x="5120640" y="2697480"/>
            <a:ext cx="3566160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</p:sp>
      <p:sp>
        <p:nvSpPr>
          <p:cNvPr id="10" name="Item number 2"/>
          <p:cNvSpPr txBox="1"/>
          <p:nvPr/>
        </p:nvSpPr>
        <p:spPr>
          <a:xfrm>
            <a:off x="5120640" y="28346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02</a:t>
            </a:r>
            <a:endParaRPr lang="en-US" sz="1100" dirty="0"/>
          </a:p>
        </p:txBody>
      </p:sp>
      <p:sp>
        <p:nvSpPr>
          <p:cNvPr id="11" name="Item heading 2"/>
          <p:cNvSpPr txBox="1"/>
          <p:nvPr/>
        </p:nvSpPr>
        <p:spPr>
          <a:xfrm>
            <a:off x="5577840" y="28072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Prompt Strategy</a:t>
            </a:r>
            <a:endParaRPr lang="en-US" sz="1400" dirty="0"/>
          </a:p>
        </p:txBody>
      </p:sp>
      <p:sp>
        <p:nvSpPr>
          <p:cNvPr id="12" name="Item text 2"/>
          <p:cNvSpPr txBox="1"/>
          <p:nvPr/>
        </p:nvSpPr>
        <p:spPr>
          <a:xfrm>
            <a:off x="5577840" y="313639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Returns 3-5 concise practical suggestions for the client.</a:t>
            </a:r>
            <a:endParaRPr lang="en-US" sz="1200" dirty="0"/>
          </a:p>
        </p:txBody>
      </p:sp>
      <p:sp>
        <p:nvSpPr>
          <p:cNvPr id="13" name="Divider 3"/>
          <p:cNvSpPr/>
          <p:nvPr/>
        </p:nvSpPr>
        <p:spPr>
          <a:xfrm>
            <a:off x="5120640" y="3749040"/>
            <a:ext cx="3566160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</p:sp>
      <p:sp>
        <p:nvSpPr>
          <p:cNvPr id="14" name="Item number 3"/>
          <p:cNvSpPr txBox="1"/>
          <p:nvPr/>
        </p:nvSpPr>
        <p:spPr>
          <a:xfrm>
            <a:off x="5120640" y="38862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03</a:t>
            </a:r>
            <a:endParaRPr lang="en-US" sz="1100" dirty="0"/>
          </a:p>
        </p:txBody>
      </p:sp>
      <p:sp>
        <p:nvSpPr>
          <p:cNvPr id="15" name="Item heading 3"/>
          <p:cNvSpPr txBox="1"/>
          <p:nvPr/>
        </p:nvSpPr>
        <p:spPr>
          <a:xfrm>
            <a:off x="5577840" y="38587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Trend Analysis</a:t>
            </a:r>
            <a:endParaRPr lang="en-US" sz="1400" dirty="0"/>
          </a:p>
        </p:txBody>
      </p:sp>
      <p:sp>
        <p:nvSpPr>
          <p:cNvPr id="16" name="Item text 3"/>
          <p:cNvSpPr txBox="1"/>
          <p:nvPr/>
        </p:nvSpPr>
        <p:spPr>
          <a:xfrm>
            <a:off x="5577840" y="418795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Compares states based on total sales and order counts.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Automated Report</a:t>
            </a:r>
            <a:endParaRPr lang="en-US" sz="3200" dirty="0"/>
          </a:p>
        </p:txBody>
      </p:sp>
      <p:sp>
        <p:nvSpPr>
          <p:cNvPr id="3" name="Circle 1"/>
          <p:cNvSpPr/>
          <p:nvPr/>
        </p:nvSpPr>
        <p:spPr>
          <a:xfrm>
            <a:off x="457200" y="128016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" name="Report icon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399032"/>
            <a:ext cx="219456" cy="219456"/>
          </a:xfrm>
          <a:prstGeom prst="rect">
            <a:avLst/>
          </a:prstGeom>
        </p:spPr>
      </p:pic>
      <p:sp>
        <p:nvSpPr>
          <p:cNvPr id="5" name="Report item 1"/>
          <p:cNvSpPr txBox="1"/>
          <p:nvPr/>
        </p:nvSpPr>
        <p:spPr>
          <a:xfrm>
            <a:off x="1097280" y="1280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Dynamic HTML email generation via JavaScript</a:t>
            </a:r>
            <a:endParaRPr lang="en-US" sz="1300" dirty="0"/>
          </a:p>
        </p:txBody>
      </p:sp>
      <p:sp>
        <p:nvSpPr>
          <p:cNvPr id="6" name="Circle 2"/>
          <p:cNvSpPr/>
          <p:nvPr/>
        </p:nvSpPr>
        <p:spPr>
          <a:xfrm>
            <a:off x="457200" y="196596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Report icon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2084832"/>
            <a:ext cx="219456" cy="219456"/>
          </a:xfrm>
          <a:prstGeom prst="rect">
            <a:avLst/>
          </a:prstGeom>
        </p:spPr>
      </p:pic>
      <p:sp>
        <p:nvSpPr>
          <p:cNvPr id="8" name="Report item 2"/>
          <p:cNvSpPr txBox="1"/>
          <p:nvPr/>
        </p:nvSpPr>
        <p:spPr>
          <a:xfrm>
            <a:off x="1097280" y="1965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Summary metrics: Total Sales &amp; Unique Orders</a:t>
            </a:r>
            <a:endParaRPr lang="en-US" sz="1300" dirty="0"/>
          </a:p>
        </p:txBody>
      </p:sp>
      <p:sp>
        <p:nvSpPr>
          <p:cNvPr id="9" name="Circle 3"/>
          <p:cNvSpPr/>
          <p:nvPr/>
        </p:nvSpPr>
        <p:spPr>
          <a:xfrm>
            <a:off x="457200" y="265176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Report icon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2770632"/>
            <a:ext cx="219456" cy="219456"/>
          </a:xfrm>
          <a:prstGeom prst="rect">
            <a:avLst/>
          </a:prstGeom>
        </p:spPr>
      </p:pic>
      <p:sp>
        <p:nvSpPr>
          <p:cNvPr id="11" name="Report item 3"/>
          <p:cNvSpPr txBox="1"/>
          <p:nvPr/>
        </p:nvSpPr>
        <p:spPr>
          <a:xfrm>
            <a:off x="1097280" y="2651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Structured state-wise sales data table</a:t>
            </a:r>
            <a:endParaRPr lang="en-US" sz="1300" dirty="0"/>
          </a:p>
        </p:txBody>
      </p:sp>
      <p:sp>
        <p:nvSpPr>
          <p:cNvPr id="12" name="Circle 4"/>
          <p:cNvSpPr/>
          <p:nvPr/>
        </p:nvSpPr>
        <p:spPr>
          <a:xfrm>
            <a:off x="457200" y="333756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Report icon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" y="3456432"/>
            <a:ext cx="219456" cy="219456"/>
          </a:xfrm>
          <a:prstGeom prst="rect">
            <a:avLst/>
          </a:prstGeom>
        </p:spPr>
      </p:pic>
      <p:sp>
        <p:nvSpPr>
          <p:cNvPr id="14" name="Report item 4"/>
          <p:cNvSpPr txBox="1"/>
          <p:nvPr/>
        </p:nvSpPr>
        <p:spPr>
          <a:xfrm>
            <a:off x="1097280" y="3337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Integrated Gemini business suggestions</a:t>
            </a:r>
            <a:endParaRPr lang="en-US" sz="1300" dirty="0"/>
          </a:p>
        </p:txBody>
      </p:sp>
      <p:sp>
        <p:nvSpPr>
          <p:cNvPr id="15" name="Circle 5"/>
          <p:cNvSpPr/>
          <p:nvPr/>
        </p:nvSpPr>
        <p:spPr>
          <a:xfrm>
            <a:off x="457200" y="402336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Report icon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" y="4142232"/>
            <a:ext cx="219456" cy="219456"/>
          </a:xfrm>
          <a:prstGeom prst="rect">
            <a:avLst/>
          </a:prstGeom>
        </p:spPr>
      </p:pic>
      <p:sp>
        <p:nvSpPr>
          <p:cNvPr id="17" name="Report item 5"/>
          <p:cNvSpPr txBox="1"/>
          <p:nvPr/>
        </p:nvSpPr>
        <p:spPr>
          <a:xfrm>
            <a:off x="1097280" y="4023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Automated delivery through Gmail node</a:t>
            </a:r>
            <a:endParaRPr lang="en-US" sz="130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9069" y="805803"/>
            <a:ext cx="4937759" cy="27317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Execution</a:t>
            </a:r>
            <a:endParaRPr lang="en-US" sz="32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n8n workflow testing results</a:t>
            </a:r>
            <a:endParaRPr lang="en-US" sz="1200" dirty="0"/>
          </a:p>
        </p:txBody>
      </p:sp>
      <p:sp>
        <p:nvSpPr>
          <p:cNvPr id="4" name="Stat 1 number"/>
          <p:cNvSpPr txBox="1"/>
          <p:nvPr/>
        </p:nvSpPr>
        <p:spPr>
          <a:xfrm>
            <a:off x="457200" y="14630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dirty="0">
                <a:solidFill>
                  <a:schemeClr val="tx1"/>
                </a:solidFill>
              </a:rPr>
              <a:t>11</a:t>
            </a:r>
            <a:endParaRPr lang="en-US" sz="6000" dirty="0"/>
          </a:p>
        </p:txBody>
      </p:sp>
      <p:sp>
        <p:nvSpPr>
          <p:cNvPr id="5" name="Stat 1 label"/>
          <p:cNvSpPr txBox="1"/>
          <p:nvPr/>
        </p:nvSpPr>
        <p:spPr>
          <a:xfrm>
            <a:off x="457200" y="2377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Total n8n nodes in pipeline</a:t>
            </a:r>
            <a:endParaRPr lang="en-US" sz="1400" dirty="0"/>
          </a:p>
        </p:txBody>
      </p:sp>
      <p:sp>
        <p:nvSpPr>
          <p:cNvPr id="6" name="Stat 2 number"/>
          <p:cNvSpPr txBox="1"/>
          <p:nvPr/>
        </p:nvSpPr>
        <p:spPr>
          <a:xfrm>
            <a:off x="457200" y="28346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dirty="0">
                <a:solidFill>
                  <a:schemeClr val="tx1"/>
                </a:solidFill>
              </a:rPr>
              <a:t>100%</a:t>
            </a:r>
            <a:endParaRPr lang="en-US" sz="6000" dirty="0"/>
          </a:p>
        </p:txBody>
      </p:sp>
      <p:sp>
        <p:nvSpPr>
          <p:cNvPr id="7" name="Stat 2 label"/>
          <p:cNvSpPr txBox="1"/>
          <p:nvPr/>
        </p:nvSpPr>
        <p:spPr>
          <a:xfrm>
            <a:off x="457200" y="3749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Success rate in end-to-end testing</a:t>
            </a:r>
            <a:endParaRPr lang="en-US" sz="1400" dirty="0"/>
          </a:p>
        </p:txBody>
      </p:sp>
      <p:pic>
        <p:nvPicPr>
          <p:cNvPr id="8" name="Workflow optimization photo" descr="/home/claude/work/img/s11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4206240" cy="2185416"/>
          </a:xfrm>
          <a:prstGeom prst="rect">
            <a:avLst/>
          </a:prstGeom>
        </p:spPr>
      </p:pic>
      <p:sp>
        <p:nvSpPr>
          <p:cNvPr id="9" name="Execution summary"/>
          <p:cNvSpPr txBox="1"/>
          <p:nvPr/>
        </p:nvSpPr>
        <p:spPr>
          <a:xfrm>
            <a:off x="4572000" y="37490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Workflow successfully processed 1,500 items, executed SQL analysis, generated AI insights, and produced the final report object.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Email Proof</a:t>
            </a:r>
            <a:endParaRPr lang="en-US" sz="3200" dirty="0"/>
          </a:p>
        </p:txBody>
      </p:sp>
      <p:sp>
        <p:nvSpPr>
          <p:cNvPr id="3" name="Email proof text"/>
          <p:cNvSpPr txBox="1"/>
          <p:nvPr/>
        </p:nvSpPr>
        <p:spPr>
          <a:xfrm>
            <a:off x="457200" y="1463040"/>
            <a:ext cx="4023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Final Gmail delivery successful. The system outputs a client-ready HTML report containing formatted data tables and AI-generated narrative summaries.</a:t>
            </a:r>
            <a:endParaRPr lang="en-US" sz="15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9227" y="344128"/>
            <a:ext cx="3877289" cy="467278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GitHub Repository</a:t>
            </a:r>
            <a:endParaRPr lang="en-US" sz="32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Project Documentation and Architecture</a:t>
            </a:r>
            <a:endParaRPr lang="en-US" sz="1200" dirty="0"/>
          </a:p>
        </p:txBody>
      </p:sp>
      <p:graphicFrame>
        <p:nvGraphicFramePr>
          <p:cNvPr id="14" name="Repositor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8229600" cy="2514600"/>
        </p:xfrm>
        <a:graphic>
          <a:graphicData uri="http://schemas.openxmlformats.org/drawingml/2006/table">
            <a:tbl>
              <a:tblPr/>
              <a:tblGrid>
                <a:gridCol w="3474720"/>
                <a:gridCol w="4754880"/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Path</a:t>
                      </a:r>
                      <a:endParaRPr lang="en-US" sz="1300" dirty="0"/>
                    </a:p>
                  </a:txBody>
                  <a:tcPr marL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Purpose</a:t>
                      </a:r>
                      <a:endParaRPr lang="en-US" sz="1300" dirty="0"/>
                    </a:p>
                  </a:txBody>
                  <a:tcPr marL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README.md</a:t>
                      </a:r>
                      <a:endParaRPr lang="en-US" sz="1300" dirty="0"/>
                    </a:p>
                  </a:txBody>
                  <a:tcPr marL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Project explanation and evidence</a:t>
                      </a:r>
                      <a:endParaRPr lang="en-US" sz="1300" dirty="0"/>
                    </a:p>
                  </a:txBody>
                  <a:tcPr marL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SQL</a:t>
                      </a:r>
                      <a:endParaRPr lang="en-US" sz="1300" dirty="0"/>
                    </a:p>
                  </a:txBody>
                  <a:tcPr marL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Detailed SQL, AI, and Schema notes</a:t>
                      </a:r>
                      <a:endParaRPr lang="en-US" sz="1300" dirty="0"/>
                    </a:p>
                  </a:txBody>
                  <a:tcPr marL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n8n</a:t>
                      </a:r>
                      <a:endParaRPr lang="en-US" sz="1300" dirty="0"/>
                    </a:p>
                  </a:txBody>
                  <a:tcPr marL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Sanitized n8n JSON export</a:t>
                      </a:r>
                      <a:endParaRPr lang="en-US" sz="1300" dirty="0"/>
                    </a:p>
                  </a:txBody>
                  <a:tcPr marL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suceessful email repor</a:t>
                      </a:r>
                      <a:endParaRPr lang="en-US" sz="1300" dirty="0"/>
                    </a:p>
                  </a:txBody>
                  <a:tcPr marL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Execution proof from each node</a:t>
                      </a:r>
                      <a:endParaRPr lang="en-US" sz="1300" dirty="0"/>
                    </a:p>
                  </a:txBody>
                  <a:tcPr marL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Skills Demonstrated</a:t>
            </a:r>
            <a:endParaRPr lang="en-US" sz="3200" dirty="0"/>
          </a:p>
        </p:txBody>
      </p:sp>
      <p:pic>
        <p:nvPicPr>
          <p:cNvPr id="3" name="AI concept photo" descr="/home/claude/work/img/s14_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2907792" cy="3749040"/>
          </a:xfrm>
          <a:prstGeom prst="rect">
            <a:avLst/>
          </a:prstGeom>
        </p:spPr>
      </p:pic>
      <p:sp>
        <p:nvSpPr>
          <p:cNvPr id="4" name="Skill card 1"/>
          <p:cNvSpPr/>
          <p:nvPr/>
        </p:nvSpPr>
        <p:spPr>
          <a:xfrm>
            <a:off x="3657600" y="1097280"/>
            <a:ext cx="246888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pic>
        <p:nvPicPr>
          <p:cNvPr id="5" name="Skill icon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1280160"/>
            <a:ext cx="274320" cy="274320"/>
          </a:xfrm>
          <a:prstGeom prst="rect">
            <a:avLst/>
          </a:prstGeom>
        </p:spPr>
      </p:pic>
      <p:sp>
        <p:nvSpPr>
          <p:cNvPr id="6" name="Skill label 1"/>
          <p:cNvSpPr txBox="1"/>
          <p:nvPr/>
        </p:nvSpPr>
        <p:spPr>
          <a:xfrm>
            <a:off x="3840480" y="166420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n8n Workflow Orchestration</a:t>
            </a:r>
            <a:endParaRPr lang="en-US" sz="1200" dirty="0"/>
          </a:p>
        </p:txBody>
      </p:sp>
      <p:sp>
        <p:nvSpPr>
          <p:cNvPr id="7" name="Skill card 2"/>
          <p:cNvSpPr/>
          <p:nvPr/>
        </p:nvSpPr>
        <p:spPr>
          <a:xfrm>
            <a:off x="6263640" y="1097280"/>
            <a:ext cx="246888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pic>
        <p:nvPicPr>
          <p:cNvPr id="8" name="Skill icon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280160"/>
            <a:ext cx="274320" cy="274320"/>
          </a:xfrm>
          <a:prstGeom prst="rect">
            <a:avLst/>
          </a:prstGeom>
        </p:spPr>
      </p:pic>
      <p:sp>
        <p:nvSpPr>
          <p:cNvPr id="9" name="Skill label 2"/>
          <p:cNvSpPr txBox="1"/>
          <p:nvPr/>
        </p:nvSpPr>
        <p:spPr>
          <a:xfrm>
            <a:off x="6446520" y="166420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ETL Processing and MySQL Upserts</a:t>
            </a:r>
            <a:endParaRPr lang="en-US" sz="1200" dirty="0"/>
          </a:p>
        </p:txBody>
      </p:sp>
      <p:sp>
        <p:nvSpPr>
          <p:cNvPr id="10" name="Skill card 3"/>
          <p:cNvSpPr/>
          <p:nvPr/>
        </p:nvSpPr>
        <p:spPr>
          <a:xfrm>
            <a:off x="3657600" y="2377440"/>
            <a:ext cx="246888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pic>
        <p:nvPicPr>
          <p:cNvPr id="11" name="Skill icon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0" y="2560320"/>
            <a:ext cx="274320" cy="274320"/>
          </a:xfrm>
          <a:prstGeom prst="rect">
            <a:avLst/>
          </a:prstGeom>
        </p:spPr>
      </p:pic>
      <p:sp>
        <p:nvSpPr>
          <p:cNvPr id="12" name="Skill label 3"/>
          <p:cNvSpPr txBox="1"/>
          <p:nvPr/>
        </p:nvSpPr>
        <p:spPr>
          <a:xfrm>
            <a:off x="3840480" y="29443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SQL Aggregation and Analytics</a:t>
            </a:r>
            <a:endParaRPr lang="en-US" sz="1200" dirty="0"/>
          </a:p>
        </p:txBody>
      </p:sp>
      <p:sp>
        <p:nvSpPr>
          <p:cNvPr id="13" name="Skill card 4"/>
          <p:cNvSpPr/>
          <p:nvPr/>
        </p:nvSpPr>
        <p:spPr>
          <a:xfrm>
            <a:off x="6263640" y="2377440"/>
            <a:ext cx="246888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pic>
        <p:nvPicPr>
          <p:cNvPr id="14" name="Skill icon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2560320"/>
            <a:ext cx="274320" cy="274320"/>
          </a:xfrm>
          <a:prstGeom prst="rect">
            <a:avLst/>
          </a:prstGeom>
        </p:spPr>
      </p:pic>
      <p:sp>
        <p:nvSpPr>
          <p:cNvPr id="15" name="Skill label 4"/>
          <p:cNvSpPr txBox="1"/>
          <p:nvPr/>
        </p:nvSpPr>
        <p:spPr>
          <a:xfrm>
            <a:off x="6446520" y="29443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AI Prompt Engineering (Gemini)</a:t>
            </a:r>
            <a:endParaRPr lang="en-US" sz="1200" dirty="0"/>
          </a:p>
        </p:txBody>
      </p:sp>
      <p:sp>
        <p:nvSpPr>
          <p:cNvPr id="16" name="Skill card 5"/>
          <p:cNvSpPr/>
          <p:nvPr/>
        </p:nvSpPr>
        <p:spPr>
          <a:xfrm>
            <a:off x="3657600" y="3657600"/>
            <a:ext cx="246888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pic>
        <p:nvPicPr>
          <p:cNvPr id="17" name="Skill icon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0480" y="3840480"/>
            <a:ext cx="274320" cy="274320"/>
          </a:xfrm>
          <a:prstGeom prst="rect">
            <a:avLst/>
          </a:prstGeom>
        </p:spPr>
      </p:pic>
      <p:sp>
        <p:nvSpPr>
          <p:cNvPr id="18" name="Skill label 5"/>
          <p:cNvSpPr txBox="1"/>
          <p:nvPr/>
        </p:nvSpPr>
        <p:spPr>
          <a:xfrm>
            <a:off x="3840480" y="42245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Dynamic HTML Email Generation</a:t>
            </a:r>
            <a:endParaRPr lang="en-US" sz="1200" dirty="0"/>
          </a:p>
        </p:txBody>
      </p:sp>
      <p:sp>
        <p:nvSpPr>
          <p:cNvPr id="19" name="Skill card 6"/>
          <p:cNvSpPr/>
          <p:nvPr/>
        </p:nvSpPr>
        <p:spPr>
          <a:xfrm>
            <a:off x="6263640" y="3657600"/>
            <a:ext cx="246888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pic>
        <p:nvPicPr>
          <p:cNvPr id="20" name="Skill icon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6520" y="3840480"/>
            <a:ext cx="274320" cy="274320"/>
          </a:xfrm>
          <a:prstGeom prst="rect">
            <a:avLst/>
          </a:prstGeom>
        </p:spPr>
      </p:pic>
      <p:sp>
        <p:nvSpPr>
          <p:cNvPr id="21" name="Skill label 6"/>
          <p:cNvSpPr txBox="1"/>
          <p:nvPr/>
        </p:nvSpPr>
        <p:spPr>
          <a:xfrm>
            <a:off x="6446520" y="42245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Cloud Database and API Integration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3" name="Conclusion text"/>
          <p:cNvSpPr txBox="1"/>
          <p:nvPr/>
        </p:nvSpPr>
        <p:spPr>
          <a:xfrm>
            <a:off x="1097280" y="146304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The project establishes a reusable pipeline that converts structured sales data into automatically delivered reporting, replacing manual efforts with deterministic metrics and AI-driven insights.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onda Dark">
  <a:themeElements>
    <a:clrScheme name="Honda Dark">
      <a:dk1>
        <a:srgbClr val="FFFFFF"/>
      </a:dk1>
      <a:lt1>
        <a:srgbClr val="060606"/>
      </a:lt1>
      <a:dk2>
        <a:srgbClr val="9A9A9A"/>
      </a:dk2>
      <a:lt2>
        <a:srgbClr val="151515"/>
      </a:lt2>
      <a:accent1>
        <a:srgbClr val="CC0000"/>
      </a:accent1>
      <a:accent2>
        <a:srgbClr val="2A2A2A"/>
      </a:accent2>
      <a:accent3>
        <a:srgbClr val="E0E0E0"/>
      </a:accent3>
      <a:accent4>
        <a:srgbClr val="707070"/>
      </a:accent4>
      <a:accent5>
        <a:srgbClr val="FF4D4D"/>
      </a:accent5>
      <a:accent6>
        <a:srgbClr val="444444"/>
      </a:accent6>
      <a:hlink>
        <a:srgbClr val="FF4D4D"/>
      </a:hlink>
      <a:folHlink>
        <a:srgbClr val="9A9A9A"/>
      </a:folHlink>
    </a:clrScheme>
    <a:fontScheme name="Honda Dark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564</Words>
  <Application>Microsoft Office PowerPoint</Application>
  <PresentationFormat>On-screen Show (16:9)</PresentationFormat>
  <Paragraphs>119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Arial Black</vt:lpstr>
      <vt:lpstr>Calibri</vt:lpstr>
      <vt:lpstr>Honda Dark</vt:lpstr>
      <vt:lpstr>Honda Sales AI Automation</vt:lpstr>
      <vt:lpstr>Business Problem</vt:lpstr>
      <vt:lpstr>Objective</vt:lpstr>
      <vt:lpstr>Technology Stack</vt:lpstr>
      <vt:lpstr>Architecture</vt:lpstr>
      <vt:lpstr>Data Model</vt:lpstr>
      <vt:lpstr>Data Pipeline</vt:lpstr>
      <vt:lpstr>PowerPoint Presentation</vt:lpstr>
      <vt:lpstr>AI Layer</vt:lpstr>
      <vt:lpstr>Automated Report</vt:lpstr>
      <vt:lpstr>Execution</vt:lpstr>
      <vt:lpstr>Email Proof</vt:lpstr>
      <vt:lpstr>GitHub Repository</vt:lpstr>
      <vt:lpstr>Skills Demonstrated</vt:lpstr>
      <vt:lpstr>Conclusion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Honda Sales AI Automation</dc:title>
  <dc:subject>PptxGenJS Presentation</dc:subject>
  <dc:creator>Faisal Mohsin</dc:creator>
  <cp:lastModifiedBy>Microsoft account</cp:lastModifiedBy>
  <cp:revision>4</cp:revision>
  <dcterms:created xsi:type="dcterms:W3CDTF">2026-10-02T15:13:08Z</dcterms:created>
  <dcterms:modified xsi:type="dcterms:W3CDTF">2026-10-02T15:38:18Z</dcterms:modified>
</cp:coreProperties>
</file>